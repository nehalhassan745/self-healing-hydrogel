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4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2" r:id="rId9"/>
    <p:sldId id="267" r:id="rId10"/>
    <p:sldId id="263" r:id="rId11"/>
    <p:sldId id="264" r:id="rId12"/>
    <p:sldId id="265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Result (%)</c:v>
                </c:pt>
              </c:strCache>
            </c:strRef>
          </c:tx>
          <c:spPr>
            <a:solidFill>
              <a:srgbClr val="5FAD9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1" i="0" u="none" strike="noStrike">
                    <a:solidFill>
                      <a:srgbClr val="0B2545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Elastic
Recovery</c:v>
                </c:pt>
                <c:pt idx="1">
                  <c:v>Healing Eff.
(Stress)</c:v>
                </c:pt>
                <c:pt idx="2">
                  <c:v>Healing Eff.
(Strain)</c:v>
                </c:pt>
                <c:pt idx="3">
                  <c:v>Healing Eff.
(Toughness)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88</c:v>
                </c:pt>
                <c:pt idx="1">
                  <c:v>70</c:v>
                </c:pt>
                <c:pt idx="2">
                  <c:v>89</c:v>
                </c:pt>
                <c:pt idx="3">
                  <c:v>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789-427B-BD45-672558F415B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70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70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72635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6EE87-EBD5-4F12-A48A-63ACA297AC8F}" type="datetimeFigureOut">
              <a:rPr lang="en-US" smtClean="0"/>
              <a:t>6/25/2026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30905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3794B-289A-4A80-97D7-111025398D45}" type="datetimeFigureOut">
              <a:rPr lang="en-US" smtClean="0"/>
              <a:t>6/25/2026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2205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1015F-7CC6-4D0A-9D87-873EA4C304CC}" type="datetimeFigureOut">
              <a:rPr lang="en-US" smtClean="0"/>
              <a:t>6/25/2026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5947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A301-0538-44EC-B09D-202E1042A48B}" type="datetimeFigureOut">
              <a:rPr lang="en-US" smtClean="0"/>
              <a:t>6/25/2026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8813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9574A-8875-45EF-8EA2-3CAA0F7ABC4C}" type="datetimeFigureOut">
              <a:rPr lang="en-US" smtClean="0"/>
              <a:t>6/25/2026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0340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F4D4C-5367-4C26-9E2B-D8088D7FCA81}" type="datetimeFigureOut">
              <a:rPr lang="en-US" smtClean="0"/>
              <a:t>6/25/2026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8016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91E96-98B0-4413-9547-46F3504108EF}" type="datetimeFigureOut">
              <a:rPr lang="en-US" smtClean="0"/>
              <a:t>6/25/2026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6901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8B11-C5A8-448C-8CE9-B1A273C79CFC}" type="datetimeFigureOut">
              <a:rPr lang="en-US" smtClean="0"/>
              <a:t>6/25/2026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497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smtClean="0"/>
              <a:t>6/25/2026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89038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98CD5-6C1E-4009-B41F-6DF62E31D3BE}" type="datetimeFigureOut">
              <a:rPr lang="en-US" smtClean="0"/>
              <a:pPr/>
              <a:t>6/25/2026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8813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98CD5-6C1E-4009-B41F-6DF62E31D3BE}" type="datetimeFigureOut">
              <a:rPr lang="en-US" smtClean="0"/>
              <a:pPr/>
              <a:t>6/25/2026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8402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385828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98CD5-6C1E-4009-B41F-6DF62E31D3BE}" type="datetimeFigureOut">
              <a:rPr lang="en-US" smtClean="0"/>
              <a:pPr/>
              <a:t>6/25/2026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00088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5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98CD5-6C1E-4009-B41F-6DF62E31D3BE}" type="datetimeFigureOut">
              <a:rPr lang="en-US" smtClean="0"/>
              <a:pPr/>
              <a:t>6/25/2026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59482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98CD5-6C1E-4009-B41F-6DF62E31D3BE}" type="datetimeFigureOut">
              <a:rPr lang="en-US" smtClean="0"/>
              <a:pPr/>
              <a:t>6/25/2026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7093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98CD5-6C1E-4009-B41F-6DF62E31D3BE}" type="datetimeFigureOut">
              <a:rPr lang="en-US" smtClean="0"/>
              <a:pPr/>
              <a:t>6/25/2026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7961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73815-2707-4475-8F1A-B873CB631BB4}" type="datetimeFigureOut">
              <a:rPr lang="en-US" smtClean="0"/>
              <a:t>6/25/2026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0325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AFB99-0EAB-4182-AFF8-E214C82A68F6}" type="datetimeFigureOut">
              <a:rPr lang="en-US" smtClean="0"/>
              <a:t>6/25/2026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1757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35217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3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5.png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alpha val="7000"/>
                </a:schemeClr>
              </a:gs>
              <a:gs pos="69000">
                <a:schemeClr val="accent1">
                  <a:lumMod val="60000"/>
                  <a:lumOff val="40000"/>
                  <a:alpha val="0"/>
                </a:schemeClr>
              </a:gs>
              <a:gs pos="36000">
                <a:schemeClr val="accent1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13"/>
          <a:stretch/>
        </p:blipFill>
        <p:spPr>
          <a:xfrm>
            <a:off x="8000197" y="0"/>
            <a:ext cx="1603387" cy="11430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199"/>
          <a:stretch/>
        </p:blipFill>
        <p:spPr>
          <a:xfrm>
            <a:off x="8609012" y="6092866"/>
            <a:ext cx="993734" cy="765134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90298CD5-6C1E-4009-B41F-6DF62E31D3BE}" type="datetimeFigureOut">
              <a:rPr lang="en-US" smtClean="0"/>
              <a:pPr/>
              <a:t>6/25/2026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787084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5" r:id="rId1"/>
    <p:sldLayoutId id="2147483766" r:id="rId2"/>
    <p:sldLayoutId id="2147483767" r:id="rId3"/>
    <p:sldLayoutId id="2147483768" r:id="rId4"/>
    <p:sldLayoutId id="2147483769" r:id="rId5"/>
    <p:sldLayoutId id="2147483770" r:id="rId6"/>
    <p:sldLayoutId id="2147483771" r:id="rId7"/>
    <p:sldLayoutId id="2147483772" r:id="rId8"/>
    <p:sldLayoutId id="2147483773" r:id="rId9"/>
    <p:sldLayoutId id="2147483774" r:id="rId10"/>
    <p:sldLayoutId id="2147483775" r:id="rId11"/>
    <p:sldLayoutId id="2147483776" r:id="rId12"/>
    <p:sldLayoutId id="2147483777" r:id="rId13"/>
    <p:sldLayoutId id="2147483778" r:id="rId14"/>
    <p:sldLayoutId id="2147483779" r:id="rId15"/>
    <p:sldLayoutId id="2147483780" r:id="rId16"/>
    <p:sldLayoutId id="2147483781" r:id="rId17"/>
    <p:sldLayoutId id="2147483782" r:id="rId18"/>
  </p:sldLayoutIdLst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7" Type="http://schemas.openxmlformats.org/officeDocument/2006/relationships/image" Target="../media/image12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notesSlide" Target="../notesSlides/notesSlide7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media" Target="../media/media3.mp4"/><Relationship Id="rId7" Type="http://schemas.openxmlformats.org/officeDocument/2006/relationships/image" Target="../media/image14.png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6" Type="http://schemas.openxmlformats.org/officeDocument/2006/relationships/image" Target="../media/image13.png"/><Relationship Id="rId5" Type="http://schemas.openxmlformats.org/officeDocument/2006/relationships/slideLayout" Target="../slideLayouts/slideLayout18.xml"/><Relationship Id="rId4" Type="http://schemas.openxmlformats.org/officeDocument/2006/relationships/video" Target="../media/media3.mp4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7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280160"/>
            <a:ext cx="5029200" cy="5029200"/>
          </a:xfrm>
          <a:prstGeom prst="ellipse">
            <a:avLst/>
          </a:prstGeom>
          <a:solidFill>
            <a:srgbClr val="1C7293">
              <a:alpha val="30000"/>
            </a:srgbClr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10058400" y="3657600"/>
            <a:ext cx="3840480" cy="3840480"/>
          </a:xfrm>
          <a:prstGeom prst="ellipse">
            <a:avLst/>
          </a:prstGeom>
          <a:solidFill>
            <a:srgbClr val="5FAD9B">
              <a:alpha val="25000"/>
            </a:srgbClr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-1280160" y="5120640"/>
            <a:ext cx="3291840" cy="3291840"/>
          </a:xfrm>
          <a:prstGeom prst="ellipse">
            <a:avLst/>
          </a:prstGeom>
          <a:solidFill>
            <a:srgbClr val="1C7293">
              <a:alpha val="22000"/>
            </a:srgbClr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Text 3"/>
          <p:cNvSpPr/>
          <p:nvPr/>
        </p:nvSpPr>
        <p:spPr>
          <a:xfrm>
            <a:off x="640080" y="6400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5FAD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BIOMEDICAL ENGINEERING  ·  HITEC UNIVERSITY, TAXILA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10607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Fabrication and Characterization of a</a:t>
            </a:r>
            <a:endParaRPr lang="en-US" sz="33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Self-Healing PVA-Chitosan Hydrogel</a:t>
            </a:r>
            <a:endParaRPr lang="en-US" sz="33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Crosslinked with Borax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640080" y="331012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C8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Soft-Tissue-Mimetic Hydrogel Applications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4114800"/>
            <a:ext cx="10607040" cy="1920240"/>
          </a:xfrm>
          <a:prstGeom prst="roundRect">
            <a:avLst>
              <a:gd name="adj" fmla="val 381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9" name="Text 7"/>
          <p:cNvSpPr/>
          <p:nvPr/>
        </p:nvSpPr>
        <p:spPr>
          <a:xfrm>
            <a:off x="914400" y="42793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5FAD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14400" y="4690872"/>
            <a:ext cx="347472" cy="347472"/>
          </a:xfrm>
          <a:prstGeom prst="ellipse">
            <a:avLst/>
          </a:prstGeom>
          <a:solidFill>
            <a:srgbClr val="5FAD9B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914400" y="46908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417320" y="4608576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Raina Amer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FC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23-BME-016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35040" y="4690872"/>
            <a:ext cx="347472" cy="347472"/>
          </a:xfrm>
          <a:prstGeom prst="ellipse">
            <a:avLst/>
          </a:prstGeom>
          <a:solidFill>
            <a:srgbClr val="5FAD9B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4" name="Text 12"/>
          <p:cNvSpPr/>
          <p:nvPr/>
        </p:nvSpPr>
        <p:spPr>
          <a:xfrm>
            <a:off x="6035040" y="46908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537960" y="4608576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Tayyeba Ahmed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FC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23-BME-015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14400" y="5404104"/>
            <a:ext cx="347472" cy="347472"/>
          </a:xfrm>
          <a:prstGeom prst="ellipse">
            <a:avLst/>
          </a:prstGeom>
          <a:solidFill>
            <a:srgbClr val="5FAD9B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7" name="Text 15"/>
          <p:cNvSpPr/>
          <p:nvPr/>
        </p:nvSpPr>
        <p:spPr>
          <a:xfrm>
            <a:off x="914400" y="54041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417320" y="532180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Nehal Hassan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FC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23-BME-001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035040" y="5404104"/>
            <a:ext cx="347472" cy="347472"/>
          </a:xfrm>
          <a:prstGeom prst="ellipse">
            <a:avLst/>
          </a:prstGeom>
          <a:solidFill>
            <a:srgbClr val="5FAD9B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0" name="Text 18"/>
          <p:cNvSpPr/>
          <p:nvPr/>
        </p:nvSpPr>
        <p:spPr>
          <a:xfrm>
            <a:off x="6035040" y="54041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537960" y="532180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Anum Hajra Asif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FC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22-BME-001</a:t>
            </a:r>
            <a:endParaRPr lang="en-US" sz="1400" dirty="0"/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6321" y="1449324"/>
            <a:ext cx="3713463" cy="240487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Self-Healing Hydrogels Matter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074920" cy="1920240"/>
          </a:xfrm>
          <a:prstGeom prst="roundRect">
            <a:avLst>
              <a:gd name="adj" fmla="val 4286"/>
            </a:avLst>
          </a:prstGeom>
          <a:solidFill>
            <a:srgbClr val="EAF4F4"/>
          </a:solidFill>
          <a:ln/>
          <a:effectLst>
            <a:outerShdw blurRad="101600" dist="38100" dir="5400000" algn="bl" rotWithShape="0">
              <a:srgbClr val="1B2733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Text 4"/>
          <p:cNvSpPr/>
          <p:nvPr/>
        </p:nvSpPr>
        <p:spPr>
          <a:xfrm>
            <a:off x="77724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17320" y="1801368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Soft, tissue-like materials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377440"/>
            <a:ext cx="4526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Hydrogels are water-rich networks used in wound dressings, drug-delivery patches, soft robots, and flexible sensors that must bend and stay in contact with the body.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080760" y="1600200"/>
            <a:ext cx="5074920" cy="1920240"/>
          </a:xfrm>
          <a:prstGeom prst="roundRect">
            <a:avLst>
              <a:gd name="adj" fmla="val 4286"/>
            </a:avLst>
          </a:prstGeom>
          <a:solidFill>
            <a:srgbClr val="EAF4F4"/>
          </a:solidFill>
          <a:ln/>
          <a:effectLst>
            <a:outerShdw blurRad="101600" dist="38100" dir="5400000" algn="bl" rotWithShape="0">
              <a:srgbClr val="1B2733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0" name="Shape 8"/>
          <p:cNvSpPr/>
          <p:nvPr/>
        </p:nvSpPr>
        <p:spPr>
          <a:xfrm>
            <a:off x="6309360" y="182880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630936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949440" y="1801368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core problem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355080" y="2377440"/>
            <a:ext cx="4526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Ordinary hydrogels tear or crack under repeated stress, and once damaged, they usually stay damaged — shortening device life.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749040"/>
            <a:ext cx="5074920" cy="1920240"/>
          </a:xfrm>
          <a:prstGeom prst="roundRect">
            <a:avLst>
              <a:gd name="adj" fmla="val 4286"/>
            </a:avLst>
          </a:prstGeom>
          <a:solidFill>
            <a:srgbClr val="EAF4F4"/>
          </a:solidFill>
          <a:ln/>
          <a:effectLst>
            <a:outerShdw blurRad="101600" dist="38100" dir="5400000" algn="bl" rotWithShape="0">
              <a:srgbClr val="1B2733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5" name="Shape 13"/>
          <p:cNvSpPr/>
          <p:nvPr/>
        </p:nvSpPr>
        <p:spPr>
          <a:xfrm>
            <a:off x="777240" y="39776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6" name="Text 14"/>
          <p:cNvSpPr/>
          <p:nvPr/>
        </p:nvSpPr>
        <p:spPr>
          <a:xfrm>
            <a:off x="777240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17320" y="3950208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fix: self-healing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2960" y="4526280"/>
            <a:ext cx="4526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self-healing hydrogel repairs its own cracks, extending working life and improving safety for anything worn on or placed inside the body.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080760" y="3749040"/>
            <a:ext cx="5074920" cy="1920240"/>
          </a:xfrm>
          <a:prstGeom prst="roundRect">
            <a:avLst>
              <a:gd name="adj" fmla="val 4286"/>
            </a:avLst>
          </a:prstGeom>
          <a:solidFill>
            <a:srgbClr val="EAF4F4"/>
          </a:solidFill>
          <a:ln/>
          <a:effectLst>
            <a:outerShdw blurRad="101600" dist="38100" dir="5400000" algn="bl" rotWithShape="0">
              <a:srgbClr val="1B2733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0" name="Shape 18"/>
          <p:cNvSpPr/>
          <p:nvPr/>
        </p:nvSpPr>
        <p:spPr>
          <a:xfrm>
            <a:off x="6309360" y="39776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1" name="Text 19"/>
          <p:cNvSpPr/>
          <p:nvPr/>
        </p:nvSpPr>
        <p:spPr>
          <a:xfrm>
            <a:off x="6309360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949440" y="3950208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Autonomous is the goal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355080" y="4526280"/>
            <a:ext cx="4526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Healing that needs heat or pressure is hard to use clinically. A gel that closes a cut at room temperature, from contact alone, behaves far more like real tissue.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1185855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52243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690173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Self-Healing Works in This System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029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Borate ester bonds: </a:t>
            </a:r>
            <a:endParaRPr lang="en-US" sz="13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Borate ions react with -OH groups on PVA chains. These bonds are reversible — they break under stress and reform when surfaces touch again, letting a cut rejoin.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3154680"/>
            <a:ext cx="5029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Chitosan hydrogen bonding: </a:t>
            </a:r>
            <a:endParaRPr lang="en-US" sz="13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Amine (-NH2) and hydroxyl groups on chitosan form hydrogen bonds across the cut interface, holding the two halves together while borate ester bonds reform.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4892040"/>
            <a:ext cx="5029200" cy="1143000"/>
          </a:xfrm>
          <a:prstGeom prst="roundRect">
            <a:avLst>
              <a:gd name="adj" fmla="val 6400"/>
            </a:avLst>
          </a:prstGeom>
          <a:solidFill>
            <a:srgbClr val="0B254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Text 5"/>
          <p:cNvSpPr/>
          <p:nvPr/>
        </p:nvSpPr>
        <p:spPr>
          <a:xfrm>
            <a:off x="777240" y="502920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mechanisms run with no heat or pressure required — this makes the healing fully autonomous, the highest level of self-healing.</a:t>
            </a:r>
            <a:endParaRPr lang="en-US" sz="1250" dirty="0"/>
          </a:p>
        </p:txBody>
      </p:sp>
      <p:pic>
        <p:nvPicPr>
          <p:cNvPr id="8" name="Image 0" descr="/home/claude/pptx_build/images/p3_img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0" y="2189911"/>
            <a:ext cx="5989320" cy="275249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897880" y="4988129"/>
            <a:ext cx="5989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2 — Self-healing mechanism: cut surfaces reconnect via reversible borate ester bonds and chitosan hydrogen bonding.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185855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A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 &amp; CEP Pass Targets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Fabricate a PVA-chitosan hydrogel, crosslinked with borax, that behaves like soft tissue and heals itself after being cut — soft, stretchable, mold-stable, and able to recover its shape after deformation.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52120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B2733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6" name="Text 4"/>
          <p:cNvSpPr/>
          <p:nvPr/>
        </p:nvSpPr>
        <p:spPr>
          <a:xfrm>
            <a:off x="914400" y="2971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RECOVERY TARGET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324612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 80%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914400" y="429768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 must spring back almost completely after compressive loading is released.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80760" y="2743200"/>
            <a:ext cx="52120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B2733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0" name="Text 8"/>
          <p:cNvSpPr/>
          <p:nvPr/>
        </p:nvSpPr>
        <p:spPr>
          <a:xfrm>
            <a:off x="6446520" y="2971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HEALING EFFICIENCY TARGET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46520" y="324612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5FAD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≥ 45%</a:t>
            </a:r>
            <a:endParaRPr lang="en-US" sz="5600" dirty="0"/>
          </a:p>
        </p:txBody>
      </p:sp>
      <p:sp>
        <p:nvSpPr>
          <p:cNvPr id="12" name="Text 10"/>
          <p:cNvSpPr/>
          <p:nvPr/>
        </p:nvSpPr>
        <p:spPr>
          <a:xfrm>
            <a:off x="6446520" y="429768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healed, cut-and-rejoined sample must recover at least 45% of original strength.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53492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was measured by casting specimens, testing them under compression on the ME 8236 apparatus, and comparing fresh vs. healed samples against these two targets.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185855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 &amp; METHODS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Hydrogel Formulation</a:t>
            </a:r>
            <a:endParaRPr lang="en-US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17526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Component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Conc.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Amount / 50 mL batch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Role in the Network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293D"/>
                          </a:solidFill>
                        </a:rPr>
                        <a:t>PVA (Polyvinyl Alcohol)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293D"/>
                          </a:solidFill>
                        </a:rPr>
                        <a:t>4% w/v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293D"/>
                          </a:solidFill>
                        </a:rPr>
                        <a:t>2.0 g in 50 mL water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293D"/>
                          </a:solidFill>
                        </a:rPr>
                        <a:t>Primary polymer backbone; forms the elastic network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293D"/>
                          </a:solidFill>
                        </a:rPr>
                        <a:t>Chitosan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293D"/>
                          </a:solidFill>
                        </a:rPr>
                        <a:t>1% w/v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293D"/>
                          </a:solidFill>
                        </a:rPr>
                        <a:t>0.5 g in 50 mL of 1% acetic acid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293D"/>
                          </a:solidFill>
                        </a:rPr>
                        <a:t>Reinforces network; adds biocompatibility &amp; H-bonding sites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293D"/>
                          </a:solidFill>
                        </a:rPr>
                        <a:t>Borax (Sodium Tetraborate)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293D"/>
                          </a:solidFill>
                        </a:rPr>
                        <a:t>4% of PVA vol.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293D"/>
                          </a:solidFill>
                        </a:rPr>
                        <a:t>0.8 g in 20 mL water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293D"/>
                          </a:solidFill>
                        </a:rPr>
                        <a:t>Crosslinker; forms reversible borate ester bonds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611880"/>
            <a:ext cx="3474720" cy="2468880"/>
          </a:xfrm>
          <a:prstGeom prst="roundRect">
            <a:avLst>
              <a:gd name="adj" fmla="val 2963"/>
            </a:avLst>
          </a:prstGeom>
          <a:solidFill>
            <a:srgbClr val="EAF4F4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Text 3"/>
          <p:cNvSpPr/>
          <p:nvPr/>
        </p:nvSpPr>
        <p:spPr>
          <a:xfrm>
            <a:off x="777240" y="37947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PVA range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77240" y="420624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~3% the gel is too weak to hold a mold; above ~6% it turns stiff and loses skin-like stretch. 4% sits in the soft-tissue modulus range (10-50 kPa).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251960" y="3611880"/>
            <a:ext cx="3474720" cy="2468880"/>
          </a:xfrm>
          <a:prstGeom prst="roundRect">
            <a:avLst>
              <a:gd name="adj" fmla="val 2963"/>
            </a:avLst>
          </a:prstGeom>
          <a:solidFill>
            <a:srgbClr val="EAF4F4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9" name="Text 6"/>
          <p:cNvSpPr/>
          <p:nvPr/>
        </p:nvSpPr>
        <p:spPr>
          <a:xfrm>
            <a:off x="4480560" y="37947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Borax range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480560" y="420624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~2% the gel barely crosslinks and flows; over ~6% it becomes brittle and self-healing fails. 4% gives fast gelation and reliable healing.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955280" y="3611880"/>
            <a:ext cx="3474720" cy="2468880"/>
          </a:xfrm>
          <a:prstGeom prst="roundRect">
            <a:avLst>
              <a:gd name="adj" fmla="val 2963"/>
            </a:avLst>
          </a:prstGeom>
          <a:solidFill>
            <a:srgbClr val="EAF4F4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2" name="Text 9"/>
          <p:cNvSpPr/>
          <p:nvPr/>
        </p:nvSpPr>
        <p:spPr>
          <a:xfrm>
            <a:off x="8183880" y="37947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Chitosan level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183880" y="420624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 at 1% — higher amounts tend to precipitate in the borax mixture, while 1% dissolves cleanly and blends without disturbing crosslinking.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11185855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 &amp; METHODS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Pipeline</a:t>
            </a: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11185855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100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028" y="1572768"/>
            <a:ext cx="9984921" cy="48737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/home/claude/pptx_build/images/p3_img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928" y="1177219"/>
            <a:ext cx="11732079" cy="546034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44928" y="351064"/>
            <a:ext cx="464841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 &amp; METHODS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867551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A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52243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Self-Healing Demonstration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48640" y="1632005"/>
            <a:ext cx="4114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&amp; rejoin: 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cured samples were cut completely in half with a clean scalpel, then the faces were brought into gentle contact — no clamping, no pressing.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2880360"/>
            <a:ext cx="4114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Healing window: 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Rejoined samples sat in a slightly humid container for 24-48 hours at room temperature, with no heat or pressure applied.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4160520"/>
            <a:ext cx="4114800" cy="1691640"/>
          </a:xfrm>
          <a:prstGeom prst="roundRect">
            <a:avLst>
              <a:gd name="adj" fmla="val 4865"/>
            </a:avLst>
          </a:prstGeom>
          <a:solidFill>
            <a:srgbClr val="0B254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Text 5"/>
          <p:cNvSpPr/>
          <p:nvPr/>
        </p:nvSpPr>
        <p:spPr>
          <a:xfrm>
            <a:off x="777240" y="4315968"/>
            <a:ext cx="3657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about 24 hours the cut surfaces bonded well enough to be lifted and handled as a single piece — confirming the healing is autonomous.</a:t>
            </a:r>
            <a:endParaRPr lang="en-US" sz="1300" dirty="0"/>
          </a:p>
        </p:txBody>
      </p:sp>
      <p:pic>
        <p:nvPicPr>
          <p:cNvPr id="8" name="Image 0" descr="/home/claude/pptx_build/images/p5_img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3480" y="1554480"/>
            <a:ext cx="6675120" cy="1573668"/>
          </a:xfrm>
          <a:prstGeom prst="rect">
            <a:avLst/>
          </a:prstGeom>
        </p:spPr>
      </p:pic>
      <p:pic>
        <p:nvPicPr>
          <p:cNvPr id="10" name="Image 2" descr="/home/claude/pptx_build/images/p5_img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40083" y="3384180"/>
            <a:ext cx="2445772" cy="23317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983480" y="5871348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4 — Demolded self-healing sheet showing the rejoined region (top), and the healed specimen handled by hand as one piece (bottom).</a:t>
            </a:r>
            <a:endParaRPr lang="en-US" sz="1000" dirty="0"/>
          </a:p>
        </p:txBody>
      </p:sp>
      <p:sp>
        <p:nvSpPr>
          <p:cNvPr id="12" name="Text 7"/>
          <p:cNvSpPr/>
          <p:nvPr/>
        </p:nvSpPr>
        <p:spPr>
          <a:xfrm>
            <a:off x="11185855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1000" dirty="0"/>
          </a:p>
        </p:txBody>
      </p:sp>
      <p:pic>
        <p:nvPicPr>
          <p:cNvPr id="14" name="WhatsApp Video 2026-06-24 at 11.23.00 AM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4790157" y="3415483"/>
            <a:ext cx="3823208" cy="23004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4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WhatsApp Video 2026-06-24 at 11.22.57 AM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59489" y="1188719"/>
            <a:ext cx="5762846" cy="4557394"/>
          </a:xfrm>
          <a:prstGeom prst="rect">
            <a:avLst/>
          </a:prstGeom>
        </p:spPr>
      </p:pic>
      <p:pic>
        <p:nvPicPr>
          <p:cNvPr id="3" name="WhatsApp Video 2026-06-25 at 3.12.42 PM">
            <a:hlinkClick r:id="" action="ppaction://media"/>
            <a:extLst>
              <a:ext uri="{FF2B5EF4-FFF2-40B4-BE49-F238E27FC236}">
                <a16:creationId xmlns:a16="http://schemas.microsoft.com/office/drawing/2014/main" id="{9299C553-429D-4448-134F-0FBDDD1FAFC1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6269666" y="1188719"/>
            <a:ext cx="4896174" cy="4557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1560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353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video>
              <p:cMediaNode vol="80000">
                <p:cTn id="13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8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Mechanical Test Results</a:t>
            </a:r>
            <a:endParaRPr lang="en-US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5120640" cy="16764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Specimen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Compressive</a:t>
                      </a:r>
                      <a:endParaRPr lang="en-US" sz="1150" dirty="0"/>
                    </a:p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Strength σ (kPa)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Strain at</a:t>
                      </a:r>
                      <a:endParaRPr lang="en-US" sz="1150" dirty="0"/>
                    </a:p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Failure ε (%)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Compressive</a:t>
                      </a:r>
                      <a:endParaRPr lang="en-US" sz="1150" dirty="0"/>
                    </a:p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Modulus E (kPa)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B2545"/>
                          </a:solidFill>
                        </a:rPr>
                        <a:t>Original (uncut)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3293D"/>
                          </a:solidFill>
                        </a:rPr>
                        <a:t>40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3293D"/>
                          </a:solidFill>
                        </a:rPr>
                        <a:t>80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3293D"/>
                          </a:solidFill>
                        </a:rPr>
                        <a:t>22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B2545"/>
                          </a:solidFill>
                        </a:rPr>
                        <a:t>Healed (cut + rejoined)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3293D"/>
                          </a:solidFill>
                        </a:rPr>
                        <a:t>28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3293D"/>
                          </a:solidFill>
                        </a:rPr>
                        <a:t>71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3293D"/>
                          </a:solidFill>
                        </a:rPr>
                        <a:t>21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292608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healed specimen recovered most of its stiffness (21 vs. 22 kPa modulus) but failed earlier than the original — pointing to the rejoined interface, not the bulk gel, as the weak point.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548640" y="4251960"/>
            <a:ext cx="5120640" cy="1600200"/>
          </a:xfrm>
          <a:prstGeom prst="roundRect">
            <a:avLst>
              <a:gd name="adj" fmla="val 4571"/>
            </a:avLst>
          </a:prstGeom>
          <a:solidFill>
            <a:srgbClr val="EAF4F4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Text 4"/>
          <p:cNvSpPr/>
          <p:nvPr/>
        </p:nvSpPr>
        <p:spPr>
          <a:xfrm>
            <a:off x="777240" y="4434840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Driving factors: 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Borax crosslink density, healing contact time, and how clean and well-aligned the cut surfaces were.</a:t>
            </a:r>
            <a:endParaRPr lang="en-US" sz="1200" dirty="0"/>
          </a:p>
        </p:txBody>
      </p:sp>
      <p:pic>
        <p:nvPicPr>
          <p:cNvPr id="8" name="Image 0" descr="/home/claude/pptx_build/images/p6_img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600200"/>
            <a:ext cx="1549682" cy="2606040"/>
          </a:xfrm>
          <a:prstGeom prst="rect">
            <a:avLst/>
          </a:prstGeom>
        </p:spPr>
      </p:pic>
      <p:sp>
        <p:nvSpPr>
          <p:cNvPr id="4" name="Text 5"/>
          <p:cNvSpPr/>
          <p:nvPr/>
        </p:nvSpPr>
        <p:spPr>
          <a:xfrm>
            <a:off x="6126480" y="4251960"/>
            <a:ext cx="15496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ME 8236 compression apparatus</a:t>
            </a:r>
            <a:endParaRPr lang="en-US" sz="950" dirty="0"/>
          </a:p>
        </p:txBody>
      </p:sp>
      <p:pic>
        <p:nvPicPr>
          <p:cNvPr id="10" name="Image 1" descr="/home/claude/pptx_build/images/p6_img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0482" y="1600200"/>
            <a:ext cx="3784013" cy="332705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950482" y="4972976"/>
            <a:ext cx="378401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Representative compressive stress-strain curves — original vs. healed specimen</a:t>
            </a:r>
            <a:endParaRPr lang="en-US" sz="950" dirty="0"/>
          </a:p>
        </p:txBody>
      </p:sp>
      <p:sp>
        <p:nvSpPr>
          <p:cNvPr id="12" name="Text 7"/>
          <p:cNvSpPr/>
          <p:nvPr/>
        </p:nvSpPr>
        <p:spPr>
          <a:xfrm>
            <a:off x="11185855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A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3569" y="28366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2007" y="818388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vs Pass Specifications</a:t>
            </a:r>
            <a:endParaRPr lang="en-US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600200"/>
          <a:ext cx="6400800" cy="4434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69480" y="1600200"/>
          <a:ext cx="4389120" cy="219456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Property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Required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Result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Pass?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3293D"/>
                          </a:solidFill>
                        </a:rPr>
                        <a:t>Elastic recovery (ER)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3293D"/>
                          </a:solidFill>
                        </a:rPr>
                        <a:t>&gt; 80%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3293D"/>
                          </a:solidFill>
                        </a:rPr>
                        <a:t>88%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E8B57"/>
                          </a:solidFill>
                        </a:rPr>
                        <a:t>Yes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3293D"/>
                          </a:solidFill>
                        </a:rPr>
                        <a:t>Healing eff. (σ)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3293D"/>
                          </a:solidFill>
                        </a:rPr>
                        <a:t>≥ 45%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3293D"/>
                          </a:solidFill>
                        </a:rPr>
                        <a:t>70%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E8B57"/>
                          </a:solidFill>
                        </a:rPr>
                        <a:t>Yes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3293D"/>
                          </a:solidFill>
                        </a:rPr>
                        <a:t>Healing eff. (ε)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3293D"/>
                          </a:solidFill>
                        </a:rPr>
                        <a:t>≥ 45%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3293D"/>
                          </a:solidFill>
                        </a:rPr>
                        <a:t>89%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E8B57"/>
                          </a:solidFill>
                        </a:rPr>
                        <a:t>Yes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3293D"/>
                          </a:solidFill>
                        </a:rPr>
                        <a:t>Healing eff. (U)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3293D"/>
                          </a:solidFill>
                        </a:rPr>
                        <a:t>Bonus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3293D"/>
                          </a:solidFill>
                        </a:rPr>
                        <a:t>66%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3293D"/>
                          </a:solidFill>
                        </a:rPr>
                        <a:t>—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7269480" y="3977640"/>
            <a:ext cx="4389120" cy="2057400"/>
          </a:xfrm>
          <a:prstGeom prst="roundRect">
            <a:avLst>
              <a:gd name="adj" fmla="val 4000"/>
            </a:avLst>
          </a:prstGeom>
          <a:solidFill>
            <a:srgbClr val="0B254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Text 3"/>
          <p:cNvSpPr/>
          <p:nvPr/>
        </p:nvSpPr>
        <p:spPr>
          <a:xfrm>
            <a:off x="7498080" y="4160520"/>
            <a:ext cx="39319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required metrics pass, with elastic recovery and strain-based healing efficiency clearing their targets by a wide margin.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11185855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200" dirty="0">
                <a:solidFill>
                  <a:srgbClr val="5FAD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Future Work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0698480" cy="1371600"/>
          </a:xfrm>
          <a:prstGeom prst="roundRect">
            <a:avLst>
              <a:gd name="adj" fmla="val 60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" name="Text 3"/>
          <p:cNvSpPr/>
          <p:nvPr/>
        </p:nvSpPr>
        <p:spPr>
          <a:xfrm>
            <a:off x="868680" y="169164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simple, single-day, borax-crosslinked PVA-chitosan system delivers autonomous self-healing at room temperature — meeting both CEP targets with an elastic recovery of ~88% and a healing efficiency of ~70% in compressive strength.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548640" y="32004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5FAD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648456"/>
            <a:ext cx="201168" cy="201168"/>
          </a:xfrm>
          <a:prstGeom prst="ellipse">
            <a:avLst/>
          </a:prstGeom>
          <a:solidFill>
            <a:srgbClr val="5FAD9B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914400" y="361188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Finer-tuned borax concentration to balance strength against healing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4215384"/>
            <a:ext cx="201168" cy="201168"/>
          </a:xfrm>
          <a:prstGeom prst="ellipse">
            <a:avLst/>
          </a:prstGeom>
          <a:solidFill>
            <a:srgbClr val="5FAD9B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0" name="Text 8"/>
          <p:cNvSpPr/>
          <p:nvPr/>
        </p:nvSpPr>
        <p:spPr>
          <a:xfrm>
            <a:off x="914400" y="4178808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healing efficiency across multiple contact times, not one point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4782312"/>
            <a:ext cx="201168" cy="201168"/>
          </a:xfrm>
          <a:prstGeom prst="ellipse">
            <a:avLst/>
          </a:prstGeom>
          <a:solidFill>
            <a:srgbClr val="5FAD9B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2" name="Text 10"/>
          <p:cNvSpPr/>
          <p:nvPr/>
        </p:nvSpPr>
        <p:spPr>
          <a:xfrm>
            <a:off x="914400" y="4745736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Swelling, degradation, and cytotoxicity / cell-viability testing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5349240"/>
            <a:ext cx="201168" cy="201168"/>
          </a:xfrm>
          <a:prstGeom prst="ellipse">
            <a:avLst/>
          </a:prstGeom>
          <a:solidFill>
            <a:srgbClr val="5FAD9B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4" name="Text 12"/>
          <p:cNvSpPr/>
          <p:nvPr/>
        </p:nvSpPr>
        <p:spPr>
          <a:xfrm>
            <a:off x="914400" y="5312664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specimens per group for statistically reliable error bars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48640" y="598932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AFC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takeaway: the main route to better performance is finer control of crosslink density and healing conditions — not a more complex material.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1185855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42000"/>
                <a:hueMod val="42000"/>
                <a:satMod val="124000"/>
                <a:lumMod val="62000"/>
              </a:schemeClr>
              <a:schemeClr val="bg2">
                <a:tint val="96000"/>
                <a:satMod val="13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Picture 83">
            <a:extLst>
              <a:ext uri="{FF2B5EF4-FFF2-40B4-BE49-F238E27FC236}">
                <a16:creationId xmlns:a16="http://schemas.microsoft.com/office/drawing/2014/main" id="{BED40652-2041-40A8-BD19-2174322668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86" name="Picture 85">
            <a:extLst>
              <a:ext uri="{FF2B5EF4-FFF2-40B4-BE49-F238E27FC236}">
                <a16:creationId xmlns:a16="http://schemas.microsoft.com/office/drawing/2014/main" id="{3F9E3962-D4A6-4AE1-88E9-74BCE5EB88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88" name="Oval 87">
            <a:extLst>
              <a:ext uri="{FF2B5EF4-FFF2-40B4-BE49-F238E27FC236}">
                <a16:creationId xmlns:a16="http://schemas.microsoft.com/office/drawing/2014/main" id="{4C6C9A81-EBD8-4A7D-BE1B-7520E2A46F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alpha val="7000"/>
                </a:schemeClr>
              </a:gs>
              <a:gs pos="69000">
                <a:schemeClr val="accent1">
                  <a:lumMod val="60000"/>
                  <a:lumOff val="40000"/>
                  <a:alpha val="0"/>
                </a:schemeClr>
              </a:gs>
              <a:gs pos="36000">
                <a:schemeClr val="accent1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pic>
        <p:nvPicPr>
          <p:cNvPr id="90" name="Picture 89">
            <a:extLst>
              <a:ext uri="{FF2B5EF4-FFF2-40B4-BE49-F238E27FC236}">
                <a16:creationId xmlns:a16="http://schemas.microsoft.com/office/drawing/2014/main" id="{79C71F41-5AA1-428C-A1E3-0BD5A76911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13"/>
          <a:stretch/>
        </p:blipFill>
        <p:spPr>
          <a:xfrm>
            <a:off x="8000197" y="0"/>
            <a:ext cx="1603387" cy="1143000"/>
          </a:xfrm>
          <a:prstGeom prst="rect">
            <a:avLst/>
          </a:prstGeom>
        </p:spPr>
      </p:pic>
      <p:pic>
        <p:nvPicPr>
          <p:cNvPr id="92" name="Picture 91">
            <a:extLst>
              <a:ext uri="{FF2B5EF4-FFF2-40B4-BE49-F238E27FC236}">
                <a16:creationId xmlns:a16="http://schemas.microsoft.com/office/drawing/2014/main" id="{8AA17048-7FB7-46CB-B99B-8D9D66ECA5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199"/>
          <a:stretch/>
        </p:blipFill>
        <p:spPr>
          <a:xfrm>
            <a:off x="8609012" y="6092866"/>
            <a:ext cx="993734" cy="765134"/>
          </a:xfrm>
          <a:prstGeom prst="rect">
            <a:avLst/>
          </a:prstGeom>
        </p:spPr>
      </p:pic>
      <p:sp>
        <p:nvSpPr>
          <p:cNvPr id="94" name="Rectangle 93">
            <a:extLst>
              <a:ext uri="{FF2B5EF4-FFF2-40B4-BE49-F238E27FC236}">
                <a16:creationId xmlns:a16="http://schemas.microsoft.com/office/drawing/2014/main" id="{1CFBC036-F1E2-42B1-B205-11560583B5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DDBA1C2-267D-A562-C63E-414B595F5C13}"/>
              </a:ext>
            </a:extLst>
          </p:cNvPr>
          <p:cNvSpPr txBox="1"/>
          <p:nvPr/>
        </p:nvSpPr>
        <p:spPr>
          <a:xfrm>
            <a:off x="8191925" y="1325880"/>
            <a:ext cx="3352375" cy="30665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457200">
              <a:spcBef>
                <a:spcPct val="0"/>
              </a:spcBef>
              <a:spcAft>
                <a:spcPts val="600"/>
              </a:spcAft>
            </a:pPr>
            <a:r>
              <a:rPr lang="en-US" sz="54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9200DA9A-C650-4C85-93DE-F8BFB97880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157124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Freeform 36">
            <a:extLst>
              <a:ext uri="{FF2B5EF4-FFF2-40B4-BE49-F238E27FC236}">
                <a16:creationId xmlns:a16="http://schemas.microsoft.com/office/drawing/2014/main" id="{D8A2D167-807B-4285-BF5A-BE1660FA27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463681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Freeform 5">
            <a:extLst>
              <a:ext uri="{FF2B5EF4-FFF2-40B4-BE49-F238E27FC236}">
                <a16:creationId xmlns:a16="http://schemas.microsoft.com/office/drawing/2014/main" id="{83B96611-4BCB-4210-9437-6F78615AB7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5400000" flipH="1">
            <a:off x="3708596" y="2756642"/>
            <a:ext cx="6858000" cy="1344715"/>
          </a:xfrm>
          <a:custGeom>
            <a:avLst/>
            <a:gdLst/>
            <a:ahLst/>
            <a:cxnLst/>
            <a:rect l="l" t="t" r="r" b="b"/>
            <a:pathLst>
              <a:path w="10000" h="8000">
                <a:moveTo>
                  <a:pt x="0" y="0"/>
                </a:moveTo>
                <a:lnTo>
                  <a:pt x="0" y="7970"/>
                </a:lnTo>
                <a:lnTo>
                  <a:pt x="10000" y="8000"/>
                </a:lnTo>
                <a:lnTo>
                  <a:pt x="10000" y="7"/>
                </a:lnTo>
                <a:lnTo>
                  <a:pt x="10000" y="7"/>
                </a:lnTo>
                <a:lnTo>
                  <a:pt x="9773" y="156"/>
                </a:lnTo>
                <a:lnTo>
                  <a:pt x="9547" y="298"/>
                </a:lnTo>
                <a:lnTo>
                  <a:pt x="9320" y="437"/>
                </a:lnTo>
                <a:lnTo>
                  <a:pt x="9092" y="556"/>
                </a:lnTo>
                <a:lnTo>
                  <a:pt x="8865" y="676"/>
                </a:lnTo>
                <a:lnTo>
                  <a:pt x="8637" y="788"/>
                </a:lnTo>
                <a:lnTo>
                  <a:pt x="8412" y="884"/>
                </a:lnTo>
                <a:lnTo>
                  <a:pt x="8184" y="975"/>
                </a:lnTo>
                <a:lnTo>
                  <a:pt x="7957" y="1058"/>
                </a:lnTo>
                <a:lnTo>
                  <a:pt x="7734" y="1130"/>
                </a:lnTo>
                <a:lnTo>
                  <a:pt x="7508" y="1202"/>
                </a:lnTo>
                <a:lnTo>
                  <a:pt x="7285" y="1262"/>
                </a:lnTo>
                <a:lnTo>
                  <a:pt x="7062" y="1309"/>
                </a:lnTo>
                <a:lnTo>
                  <a:pt x="6840" y="1358"/>
                </a:lnTo>
                <a:lnTo>
                  <a:pt x="6620" y="1399"/>
                </a:lnTo>
                <a:lnTo>
                  <a:pt x="6402" y="1428"/>
                </a:lnTo>
                <a:lnTo>
                  <a:pt x="6184" y="1453"/>
                </a:lnTo>
                <a:lnTo>
                  <a:pt x="5968" y="1477"/>
                </a:lnTo>
                <a:lnTo>
                  <a:pt x="5755" y="1488"/>
                </a:lnTo>
                <a:lnTo>
                  <a:pt x="5542" y="1500"/>
                </a:lnTo>
                <a:lnTo>
                  <a:pt x="5332" y="1506"/>
                </a:lnTo>
                <a:lnTo>
                  <a:pt x="5124" y="1500"/>
                </a:lnTo>
                <a:lnTo>
                  <a:pt x="4918" y="1500"/>
                </a:lnTo>
                <a:lnTo>
                  <a:pt x="4714" y="1488"/>
                </a:lnTo>
                <a:lnTo>
                  <a:pt x="4514" y="1470"/>
                </a:lnTo>
                <a:lnTo>
                  <a:pt x="4316" y="1453"/>
                </a:lnTo>
                <a:lnTo>
                  <a:pt x="4122" y="1434"/>
                </a:lnTo>
                <a:lnTo>
                  <a:pt x="3929" y="1405"/>
                </a:lnTo>
                <a:lnTo>
                  <a:pt x="3739" y="1374"/>
                </a:lnTo>
                <a:lnTo>
                  <a:pt x="3553" y="1346"/>
                </a:lnTo>
                <a:lnTo>
                  <a:pt x="3190" y="1267"/>
                </a:lnTo>
                <a:lnTo>
                  <a:pt x="2842" y="1183"/>
                </a:lnTo>
                <a:lnTo>
                  <a:pt x="2508" y="1095"/>
                </a:lnTo>
                <a:lnTo>
                  <a:pt x="2192" y="998"/>
                </a:lnTo>
                <a:lnTo>
                  <a:pt x="1890" y="897"/>
                </a:lnTo>
                <a:lnTo>
                  <a:pt x="1610" y="788"/>
                </a:lnTo>
                <a:lnTo>
                  <a:pt x="1347" y="681"/>
                </a:lnTo>
                <a:lnTo>
                  <a:pt x="1105" y="574"/>
                </a:lnTo>
                <a:lnTo>
                  <a:pt x="883" y="473"/>
                </a:lnTo>
                <a:lnTo>
                  <a:pt x="686" y="377"/>
                </a:lnTo>
                <a:lnTo>
                  <a:pt x="508" y="286"/>
                </a:lnTo>
                <a:lnTo>
                  <a:pt x="358" y="210"/>
                </a:lnTo>
                <a:lnTo>
                  <a:pt x="232" y="138"/>
                </a:lnTo>
                <a:lnTo>
                  <a:pt x="59" y="35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PK"/>
          </a:p>
        </p:txBody>
      </p:sp>
      <p:pic>
        <p:nvPicPr>
          <p:cNvPr id="39" name="Graphic 38" descr="Smiling Face with No Fill">
            <a:extLst>
              <a:ext uri="{FF2B5EF4-FFF2-40B4-BE49-F238E27FC236}">
                <a16:creationId xmlns:a16="http://schemas.microsoft.com/office/drawing/2014/main" id="{65B67081-92C5-8254-177A-5F6B776117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98115" y="647698"/>
            <a:ext cx="5562139" cy="5562139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3664615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EE5818"/>
      </a:dk2>
      <a:lt2>
        <a:srgbClr val="EBEBEB"/>
      </a:lt2>
      <a:accent1>
        <a:srgbClr val="F5A408"/>
      </a:accent1>
      <a:accent2>
        <a:srgbClr val="FA731A"/>
      </a:accent2>
      <a:accent3>
        <a:srgbClr val="AB9281"/>
      </a:accent3>
      <a:accent4>
        <a:srgbClr val="A18CD0"/>
      </a:accent4>
      <a:accent5>
        <a:srgbClr val="8EBBD2"/>
      </a:accent5>
      <a:accent6>
        <a:srgbClr val="ACC995"/>
      </a:accent6>
      <a:hlink>
        <a:srgbClr val="FAC96A"/>
      </a:hlink>
      <a:folHlink>
        <a:srgbClr val="FCDB9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04000"/>
                <a:satMod val="128000"/>
                <a:lumMod val="10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68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2000"/>
                <a:hueMod val="42000"/>
                <a:satMod val="124000"/>
                <a:lumMod val="62000"/>
              </a:schemeClr>
              <a:schemeClr val="phClr">
                <a:tint val="96000"/>
                <a:satMod val="13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5A2F9111-B2DB-470C-BA56-608F9B6588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72</TotalTime>
  <Words>1056</Words>
  <Application>Microsoft Office PowerPoint</Application>
  <PresentationFormat>Widescreen</PresentationFormat>
  <Paragraphs>159</Paragraphs>
  <Slides>13</Slides>
  <Notes>10</Notes>
  <HiddenSlides>0</HiddenSlides>
  <MMClips>3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Calibri</vt:lpstr>
      <vt:lpstr>Cambria</vt:lpstr>
      <vt:lpstr>Century Gothic</vt:lpstr>
      <vt:lpstr>Wingdings 3</vt:lpstr>
      <vt:lpstr>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Self-Healing PVA-Chitosan Hydrogel Crosslinked with Borax</dc:title>
  <dc:subject>PptxGenJS Presentation</dc:subject>
  <dc:creator>Raina Amer, Tayyeba Ahmed, Nehal Hassan, Anum Hajra Asif</dc:creator>
  <cp:lastModifiedBy>rainaamer17@gmail.com</cp:lastModifiedBy>
  <cp:revision>9</cp:revision>
  <dcterms:created xsi:type="dcterms:W3CDTF">2026-06-24T19:19:37Z</dcterms:created>
  <dcterms:modified xsi:type="dcterms:W3CDTF">2026-06-25T10:15:21Z</dcterms:modified>
</cp:coreProperties>
</file>